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8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AADAF18-4D2B-4361-BD97-335141317BEF}" v="2" dt="2025-12-08T20:14:19.21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95" autoAdjust="0"/>
    <p:restoredTop sz="94660"/>
  </p:normalViewPr>
  <p:slideViewPr>
    <p:cSldViewPr snapToGrid="0">
      <p:cViewPr varScale="1">
        <p:scale>
          <a:sx n="71" d="100"/>
          <a:sy n="71" d="100"/>
        </p:scale>
        <p:origin x="44" y="6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naina makkena" userId="63979723c6a1b226" providerId="LiveId" clId="{2EF74D97-4751-4811-8BCE-732FEEBFC408}"/>
    <pc:docChg chg="custSel modSld">
      <pc:chgData name="sunaina makkena" userId="63979723c6a1b226" providerId="LiveId" clId="{2EF74D97-4751-4811-8BCE-732FEEBFC408}" dt="2025-12-08T20:14:25.129" v="9" actId="5793"/>
      <pc:docMkLst>
        <pc:docMk/>
      </pc:docMkLst>
      <pc:sldChg chg="delSp modSp mod">
        <pc:chgData name="sunaina makkena" userId="63979723c6a1b226" providerId="LiveId" clId="{2EF74D97-4751-4811-8BCE-732FEEBFC408}" dt="2025-12-08T20:14:25.129" v="9" actId="5793"/>
        <pc:sldMkLst>
          <pc:docMk/>
          <pc:sldMk cId="1390965725" sldId="257"/>
        </pc:sldMkLst>
        <pc:spChg chg="mod">
          <ac:chgData name="sunaina makkena" userId="63979723c6a1b226" providerId="LiveId" clId="{2EF74D97-4751-4811-8BCE-732FEEBFC408}" dt="2025-12-08T20:14:09.999" v="1" actId="1076"/>
          <ac:spMkLst>
            <pc:docMk/>
            <pc:sldMk cId="1390965725" sldId="257"/>
            <ac:spMk id="2" creationId="{EEAA1C63-C5C0-0565-05AF-394A16929D0D}"/>
          </ac:spMkLst>
        </pc:spChg>
        <pc:spChg chg="mod">
          <ac:chgData name="sunaina makkena" userId="63979723c6a1b226" providerId="LiveId" clId="{2EF74D97-4751-4811-8BCE-732FEEBFC408}" dt="2025-12-08T20:14:25.129" v="9" actId="5793"/>
          <ac:spMkLst>
            <pc:docMk/>
            <pc:sldMk cId="1390965725" sldId="257"/>
            <ac:spMk id="4" creationId="{60235EAF-981E-810D-4910-BE81D8170247}"/>
          </ac:spMkLst>
        </pc:spChg>
        <pc:picChg chg="del">
          <ac:chgData name="sunaina makkena" userId="63979723c6a1b226" providerId="LiveId" clId="{2EF74D97-4751-4811-8BCE-732FEEBFC408}" dt="2025-12-08T20:13:54.789" v="0" actId="478"/>
          <ac:picMkLst>
            <pc:docMk/>
            <pc:sldMk cId="1390965725" sldId="257"/>
            <ac:picMk id="6" creationId="{BC4AB11E-F43A-0ED4-5B28-E08CD5A6B61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8812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9924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11403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2052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12/8/2025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0110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12/8/2025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7739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12/8/2025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43300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1410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306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6329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55070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99103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The radiologic figure of a skeleton">
            <a:extLst>
              <a:ext uri="{FF2B5EF4-FFF2-40B4-BE49-F238E27FC236}">
                <a16:creationId xmlns:a16="http://schemas.microsoft.com/office/drawing/2014/main" id="{E048C77C-A0AA-77F0-F931-26439416DDF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094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122AB34F-E75C-451A-8410-05B6C249E9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3648484" y="0"/>
            <a:ext cx="8543515" cy="6858000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58000">
                <a:srgbClr val="000000">
                  <a:alpha val="55000"/>
                </a:srgbClr>
              </a:gs>
              <a:gs pos="93000">
                <a:srgbClr val="000000">
                  <a:alpha val="64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8C96EB-158D-14BD-372C-6B5FBE7275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38061" y="914400"/>
            <a:ext cx="4892948" cy="3427867"/>
          </a:xfrm>
        </p:spPr>
        <p:txBody>
          <a:bodyPr anchor="t">
            <a:normAutofit/>
          </a:bodyPr>
          <a:lstStyle/>
          <a:p>
            <a:pPr algn="r"/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Medical X-Ray Classification – Normal vs. Pneumonia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7BEF1C-D7A3-E79C-C7D5-DC3295C38F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89835" y="5253051"/>
            <a:ext cx="4941173" cy="812923"/>
          </a:xfrm>
        </p:spPr>
        <p:txBody>
          <a:bodyPr anchor="t">
            <a:normAutofit fontScale="92500"/>
          </a:bodyPr>
          <a:lstStyle/>
          <a:p>
            <a:pPr algn="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 Members: Spandana Dammanagari</a:t>
            </a:r>
          </a:p>
          <a:p>
            <a:pPr algn="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Sunaina Makkena</a:t>
            </a:r>
          </a:p>
          <a:p>
            <a:pPr algn="r">
              <a:lnSpc>
                <a:spcPct val="120000"/>
              </a:lnSpc>
            </a:pPr>
            <a:endParaRPr lang="en-US" sz="130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7CC2FE6-3AD0-4131-B4BC-1F4D65E25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438375" y="4861206"/>
            <a:ext cx="978862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151196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A7C550-5A12-175E-6B21-A69D6FCC70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Of 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9578AF-3989-A667-1C13-0189974A04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Description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Pre-processing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Architecture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Setup(Hyperparameters)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and Evaluation Metrics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Discussion &amp; Analysis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Work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09311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AA1C63-C5C0-0565-05AF-394A16929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580" y="1111623"/>
            <a:ext cx="6034187" cy="1097280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91422F5-4221-4812-AFD9-5479C6D60A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580905" y="1031005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1">
            <a:extLst>
              <a:ext uri="{FF2B5EF4-FFF2-40B4-BE49-F238E27FC236}">
                <a16:creationId xmlns:a16="http://schemas.microsoft.com/office/drawing/2014/main" id="{60235EAF-981E-810D-4910-BE81D817024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02091" y="2289520"/>
            <a:ext cx="9545956" cy="366468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Pneumonia is a common yet serious lung infection requiring early diagnosis.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Manual X-ray interpretation is time-consuming and prone to human error.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aims to build an automated classification system that identifies whether a chest X-ray is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Normal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Pneumonia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goal is to improve diagnostic assistance and support medical professionals.</a:t>
            </a:r>
          </a:p>
        </p:txBody>
      </p:sp>
    </p:spTree>
    <p:extLst>
      <p:ext uri="{BB962C8B-B14F-4D97-AF65-F5344CB8AC3E}">
        <p14:creationId xmlns:p14="http://schemas.microsoft.com/office/powerpoint/2010/main" val="13909657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2" name="Rectangle 51">
            <a:extLst>
              <a:ext uri="{FF2B5EF4-FFF2-40B4-BE49-F238E27FC236}">
                <a16:creationId xmlns:a16="http://schemas.microsoft.com/office/drawing/2014/main" id="{1653AE3C-AC4F-907C-B473-B9A30D2150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701392-1AAD-9CF8-AD25-25576D0ABD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3412998" cy="1839433"/>
          </a:xfrm>
        </p:spPr>
        <p:txBody>
          <a:bodyPr>
            <a:normAutofit/>
          </a:bodyPr>
          <a:lstStyle/>
          <a:p>
            <a:r>
              <a:rPr 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Dataset Description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1F3CE91-058B-A988-4DD8-F0C580845AC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632670" y="1014984"/>
            <a:ext cx="7029274" cy="531468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Dataset Name: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Chest X-Ray Images (Pneumonia) – Kaggle        Dataset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Total Images: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~5,863 chest X-rays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1. Normal: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1,583 images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2. Pneumonia: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4,273 images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Image Type: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Grayscale/Single-channel X-ray images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Format: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JPEG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Split:</a:t>
            </a: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Train: 80%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Validation: 10%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Test: 10%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Challenges: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Class imbalance (Pneumonia &gt; Normal)</a:t>
            </a:r>
          </a:p>
        </p:txBody>
      </p:sp>
    </p:spTree>
    <p:extLst>
      <p:ext uri="{BB962C8B-B14F-4D97-AF65-F5344CB8AC3E}">
        <p14:creationId xmlns:p14="http://schemas.microsoft.com/office/powerpoint/2010/main" val="5459499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E098D8-CDC7-9540-43A5-772E31CF4A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570750"/>
            <a:ext cx="10890929" cy="1387934"/>
          </a:xfrm>
        </p:spPr>
        <p:txBody>
          <a:bodyPr anchor="b"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Pre-processing</a:t>
            </a:r>
          </a:p>
        </p:txBody>
      </p:sp>
      <p:sp>
        <p:nvSpPr>
          <p:cNvPr id="14" name="Rectangle 1">
            <a:extLst>
              <a:ext uri="{FF2B5EF4-FFF2-40B4-BE49-F238E27FC236}">
                <a16:creationId xmlns:a16="http://schemas.microsoft.com/office/drawing/2014/main" id="{9E768CA8-D358-809E-2061-833D4037942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40080" y="2761673"/>
            <a:ext cx="10890929" cy="353624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Image resizing to 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224 × 224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consistency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Normalization of pixel values to [0,1]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augmentation applied to reduce overfitting: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1. Rotation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2. Horizontal flip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3. Zoom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4. Width/height shift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Converted all images into batches for efficient training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Ensured balanced sampling during training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E62D3963-2153-4637-96E6-E31BD2CE5D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2307479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31520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147268-6ED6-A0A9-0C07-1CBE539B2E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C9E417-57DB-617E-2BBF-A0DA67D9FD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 Model: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Pretrained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ResNet-50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(Transfer Learning)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ResNet-50?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architecture with skip connections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Excellent performance on medical and grayscale images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vanishing gradient issues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 Layers Added: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Global Average Pooling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Dense Layer (256 units, ReLU)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Dropout (0.3)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Layer: Dense(1, Sigmoid) for binary classification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Trainable Parameters: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~23M (after freezing initial layers)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74662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8A251D-C6AF-A7A1-A329-15096BF477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535" y="1198419"/>
            <a:ext cx="10890929" cy="109728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</a:t>
            </a:r>
            <a:r>
              <a:rPr lang="en-US" dirty="0"/>
              <a:t> Setup (Hyperparameters)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D0B4BDB-F950-9A8C-D6E5-3D92BC7E267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40080" y="2215950"/>
            <a:ext cx="7843814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Loss Function: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Binary Cross-Entropy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Optimizer: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Adam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Initial Learning Rate: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0.0001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Batch Size: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32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Epochs: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10–20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Callbacks Used: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1. Early Stopping (avoid overfitting)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2. Model Checkpoint (save best model)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3. ReduceLROnPlateau (adaptive LR scheduling)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19444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85F7C6-2FC3-6815-A583-3C8A53AB9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&amp; Evaluation Metrics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E69CFE7-2178-757B-4056-3A810958D00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40080" y="3077724"/>
            <a:ext cx="9059018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Accuracy: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~94–96%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Precision: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High — model avoids false positives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Recall: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High — model detects pneumonia effectively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F1-Score: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Balanced performance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Validation Accuracy: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Stable with no major overfitting signs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Test Accuracy: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~94%</a:t>
            </a:r>
          </a:p>
        </p:txBody>
      </p:sp>
    </p:spTree>
    <p:extLst>
      <p:ext uri="{BB962C8B-B14F-4D97-AF65-F5344CB8AC3E}">
        <p14:creationId xmlns:p14="http://schemas.microsoft.com/office/powerpoint/2010/main" val="34485543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B36B81-612A-C454-5A17-F63ACEA14A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Discussion &amp;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8AB420-892D-F4B1-5B9C-F04C6326F0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 successfully learned discriminative lung patterns.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Transfer Learning significantly improved performance with fewer training images.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Augmentation reduced overfitting and improved generalization.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main difficulty is handling borderline/mild pneumonia images.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imbalance affects precision on minority class (Normal).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08451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83C0FE-0F1C-D516-8C20-B61612176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EBCACE-2336-0FA7-3329-CB491A0C92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imbalance (Normal &lt; Pneumonia)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Variations in X-ray contrast, lighting, and intensity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dataset size for Normal images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of overfitting due to high model capacity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X-rays are noisy or poorly exposed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57531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C6A540-930A-B54A-662C-680630E630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Work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BACECA2-1721-AF9A-D387-D996813B4C4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50916" y="2548929"/>
            <a:ext cx="6937861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rain on larger and more balanced medical datasets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advanced models like EfficientNet-B3 or Vision Transformers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Apply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Grad-CAM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heatmap explanation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Deploy as a web app for real-time X-ray classification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 handling of mild pneumonia cases</a:t>
            </a:r>
          </a:p>
        </p:txBody>
      </p:sp>
    </p:spTree>
    <p:extLst>
      <p:ext uri="{BB962C8B-B14F-4D97-AF65-F5344CB8AC3E}">
        <p14:creationId xmlns:p14="http://schemas.microsoft.com/office/powerpoint/2010/main" val="16869092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880387-CA0D-EDEF-A8E6-D8632A45D5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0FBB656-85B8-8C36-00EC-A6ACE23777A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57844" y="2666599"/>
            <a:ext cx="8004114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built an accurate deep learning model for medical X-ray classification.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Achieved ~94–96% accuracy using ResNet-50 + Transfer Learning.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can assist radiologists by providing fast, reliable predictions.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Further improvements can make it clinically usable.</a:t>
            </a:r>
          </a:p>
        </p:txBody>
      </p:sp>
    </p:spTree>
    <p:extLst>
      <p:ext uri="{BB962C8B-B14F-4D97-AF65-F5344CB8AC3E}">
        <p14:creationId xmlns:p14="http://schemas.microsoft.com/office/powerpoint/2010/main" val="16058224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95B8DC-694F-CC3C-FBA8-274AAE6BE3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476416E-F094-0D1A-158C-7074C18B3C7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16280" y="2468881"/>
            <a:ext cx="8286243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Deng et al., “ImageNet: A Large-Scale Hierarchical Image Database”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Rajpurkar et al., “CheXNet: Radiologist-Level Pneumonia Detection on Chest X-rays”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Kaggle Pneumonia Chest X-ray Dataset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Keras Applications: ResNet-50 Documentation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Any textbook or course notes used</a:t>
            </a:r>
          </a:p>
        </p:txBody>
      </p:sp>
    </p:spTree>
    <p:extLst>
      <p:ext uri="{BB962C8B-B14F-4D97-AF65-F5344CB8AC3E}">
        <p14:creationId xmlns:p14="http://schemas.microsoft.com/office/powerpoint/2010/main" val="15455321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14F023-0A6D-E5DF-D075-5A736D514F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02091"/>
            <a:ext cx="3291840" cy="277021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400"/>
              <a:t>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CE6286-342F-68BD-BD18-4328FB4733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4846904"/>
            <a:ext cx="3145535" cy="99382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lang="en-US" sz="1800" b="1" cap="all" spc="300"/>
              <a:t>Thank You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9D7B6BE-A4E0-4483-BEC5-493AC3E5D2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4459606"/>
            <a:ext cx="978862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phic 6" descr="Handshake">
            <a:extLst>
              <a:ext uri="{FF2B5EF4-FFF2-40B4-BE49-F238E27FC236}">
                <a16:creationId xmlns:a16="http://schemas.microsoft.com/office/drawing/2014/main" id="{E889C666-E175-7F0E-DF4C-323124CA45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50408" y="966978"/>
            <a:ext cx="4873752" cy="4873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8293588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617</Words>
  <Application>Microsoft Office PowerPoint</Application>
  <PresentationFormat>Widescreen</PresentationFormat>
  <Paragraphs>119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Bierstadt</vt:lpstr>
      <vt:lpstr>Grandview Display</vt:lpstr>
      <vt:lpstr>Times New Roman</vt:lpstr>
      <vt:lpstr>DashVTI</vt:lpstr>
      <vt:lpstr>Medical X-Ray Classification – Normal vs. Pneumonia</vt:lpstr>
      <vt:lpstr>Table Of Contents</vt:lpstr>
      <vt:lpstr>Problem Statement</vt:lpstr>
      <vt:lpstr>Dataset Description</vt:lpstr>
      <vt:lpstr>Pre-processing</vt:lpstr>
      <vt:lpstr>Model Architecture</vt:lpstr>
      <vt:lpstr>Training Setup (Hyperparameters)</vt:lpstr>
      <vt:lpstr>Results &amp; Evaluation Metrics</vt:lpstr>
      <vt:lpstr>Discussion &amp; Analysis</vt:lpstr>
      <vt:lpstr>Challenges</vt:lpstr>
      <vt:lpstr>Future Work</vt:lpstr>
      <vt:lpstr>Conclusion</vt:lpstr>
      <vt:lpstr>References</vt:lpstr>
      <vt:lpstr>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sunaina makkena</dc:creator>
  <cp:lastModifiedBy>sunaina makkena</cp:lastModifiedBy>
  <cp:revision>1</cp:revision>
  <dcterms:created xsi:type="dcterms:W3CDTF">2025-12-08T18:48:35Z</dcterms:created>
  <dcterms:modified xsi:type="dcterms:W3CDTF">2025-12-08T20:14:32Z</dcterms:modified>
</cp:coreProperties>
</file>